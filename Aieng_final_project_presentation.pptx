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runtime</c:v>
                </c:pt>
              </c:strCache>
            </c:strRef>
          </c:tx>
          <c:spPr>
            <a:solidFill>
              <a:srgbClr val="20D6D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Sequential</c:v>
                </c:pt>
                <c:pt idx="1">
                  <c:v>Parallel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602</c:v>
                </c:pt>
                <c:pt idx="1">
                  <c:v>230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F7FBFF"/>
                </a:solidFill>
                <a:latin typeface="Aptos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0"/>
        </c:scaling>
        <c:delete val="0"/>
        <c:axPos val="l"/>
        <c:majorGridlines>
          <c:spPr>
            <a:ln w="12700" cap="flat" cmpd="sng" algn="ctr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B8C6D8"/>
                </a:solidFill>
                <a:latin typeface="Aptos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393523d1-f89f-4cb5-9c15-5b15e121b304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sleek_futuristic_abstract_3d_digital_illustratio_batch_2.png"/>
          <p:cNvPicPr>
            <a:picLocks noChangeAspect="1"/>
          </p:cNvPicPr>
          <p:nvPr/>
        </p:nvPicPr>
        <p:blipFill>
          <a:blip r:embed="rId1"/>
          <a:srcRect t="25" b="2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65836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CE1E6"/>
                </a:solidFill>
              </a:rPr>
              <a:t>Topic 4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94360" y="1078992"/>
            <a:ext cx="5486400" cy="1417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Async Research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Assistant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21792" y="2724912"/>
            <a:ext cx="4846320" cy="384048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8C6D8"/>
                </a:solidFill>
              </a:rPr>
              <a:t>Software-engineering layer around a provided asynchronous AI research module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21792" y="3401568"/>
            <a:ext cx="3291840" cy="301752"/>
          </a:xfrm>
          <a:prstGeom prst="roundRect">
            <a:avLst>
              <a:gd name="adj" fmla="val 24242"/>
            </a:avLst>
          </a:prstGeom>
          <a:solidFill>
            <a:srgbClr val="0E243D">
              <a:alpha val="90000"/>
            </a:srgbClr>
          </a:solidFill>
          <a:ln w="12700">
            <a:solidFill>
              <a:srgbClr val="20D6D4">
                <a:alpha val="4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3474720"/>
            <a:ext cx="3072384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CE1E6"/>
                </a:solidFill>
              </a:rPr>
              <a:t>Wikipedia + arXiv + Web → Cited answer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21792" y="5806440"/>
            <a:ext cx="4297680" cy="475488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7FBFF"/>
                </a:solidFill>
              </a:rPr>
              <a:t>Ayten &amp; Ulker &amp; Medine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7FBFF"/>
                </a:solidFill>
              </a:rPr>
              <a:t>AI Engineering Final Project · Spring 2026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292840" y="647395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191A8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CE1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Topic 4 — Async Research Assistant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8638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Objective &amp;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201400" cy="0"/>
          </a:xfrm>
          <a:prstGeom prst="line">
            <a:avLst/>
          </a:prstGeom>
          <a:noFill/>
          <a:ln w="12700">
            <a:solidFill>
              <a:srgbClr val="2443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00200"/>
            <a:ext cx="4754880" cy="8229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7FBFF"/>
                </a:solidFill>
              </a:rPr>
              <a:t>Answer a research question by gathering evidence from multiple sources, then synthesize a short answer with numeric citations.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3232" y="2788920"/>
            <a:ext cx="4572000" cy="16276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500" dirty="0">
                <a:solidFill>
                  <a:srgbClr val="B8C6D8"/>
                </a:solidFill>
              </a:rPr>
              <a:t>Kept the provided ai/ package unchanged</a:t>
            </a:r>
            <a:endParaRPr lang="en-US" sz="1500" dirty="0"/>
          </a:p>
          <a:p>
            <a:r>
              <a:rPr lang="en-US" sz="1500" dirty="0">
                <a:solidFill>
                  <a:srgbClr val="B8C6D8"/>
                </a:solidFill>
              </a:rPr>
              <a:t>Built the student-owned researcher/ layer around it</a:t>
            </a:r>
            <a:endParaRPr lang="en-US" sz="1500" dirty="0"/>
          </a:p>
          <a:p>
            <a:r>
              <a:rPr lang="en-US" sz="1500" dirty="0">
                <a:solidFill>
                  <a:srgbClr val="B8C6D8"/>
                </a:solidFill>
              </a:rPr>
              <a:t>CLI-first workflow with offline demo support</a:t>
            </a:r>
            <a:endParaRPr lang="en-US" sz="1500" dirty="0"/>
          </a:p>
          <a:p>
            <a:r>
              <a:rPr lang="en-US" sz="1500" dirty="0">
                <a:solidFill>
                  <a:srgbClr val="B8C6D8"/>
                </a:solidFill>
              </a:rPr>
              <a:t>Focused on reliability, reproducibility, and testability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10528" y="3246120"/>
            <a:ext cx="877824" cy="0"/>
          </a:xfrm>
          <a:prstGeom prst="line">
            <a:avLst/>
          </a:prstGeom>
          <a:noFill/>
          <a:ln w="25400">
            <a:solidFill>
              <a:srgbClr val="20D6D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412480" y="3246120"/>
            <a:ext cx="914400" cy="0"/>
          </a:xfrm>
          <a:prstGeom prst="line">
            <a:avLst/>
          </a:prstGeom>
          <a:noFill/>
          <a:ln w="25400">
            <a:solidFill>
              <a:srgbClr val="20D6D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486400" y="2743200"/>
            <a:ext cx="1143000" cy="1005840"/>
          </a:xfrm>
          <a:prstGeom prst="roundRect">
            <a:avLst>
              <a:gd name="adj" fmla="val 7273"/>
            </a:avLst>
          </a:prstGeom>
          <a:solidFill>
            <a:srgbClr val="102642"/>
          </a:solidFill>
          <a:ln w="15240">
            <a:solidFill>
              <a:srgbClr val="20D6D4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23560" y="2880360"/>
            <a:ext cx="868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BFF"/>
                </a:solidFill>
              </a:rPr>
              <a:t>Question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623560" y="3218688"/>
            <a:ext cx="86868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B8C6D8"/>
                </a:solidFill>
              </a:rPr>
              <a:t>Natural-language input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60920" y="2743200"/>
            <a:ext cx="1234440" cy="1005840"/>
          </a:xfrm>
          <a:prstGeom prst="roundRect">
            <a:avLst>
              <a:gd name="adj" fmla="val 7273"/>
            </a:avLst>
          </a:prstGeom>
          <a:solidFill>
            <a:srgbClr val="102642"/>
          </a:solidFill>
          <a:ln w="15240">
            <a:solidFill>
              <a:srgbClr val="8B5CF6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0" y="2880360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BFF"/>
                </a:solidFill>
              </a:rPr>
              <a:t>Sources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498080" y="3218688"/>
            <a:ext cx="96012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B8C6D8"/>
                </a:solidFill>
              </a:rPr>
              <a:t>Wiki · arXiv · Web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281160" y="2743200"/>
            <a:ext cx="1417320" cy="1005840"/>
          </a:xfrm>
          <a:prstGeom prst="roundRect">
            <a:avLst>
              <a:gd name="adj" fmla="val 7273"/>
            </a:avLst>
          </a:prstGeom>
          <a:solidFill>
            <a:srgbClr val="102642"/>
          </a:solidFill>
          <a:ln w="15240">
            <a:solidFill>
              <a:srgbClr val="2DD4BF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0" y="2880360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BFF"/>
                </a:solidFill>
              </a:rPr>
              <a:t>Answer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418320" y="3218688"/>
            <a:ext cx="114300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B8C6D8"/>
                </a:solidFill>
              </a:rPr>
              <a:t>3–6 sentences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C6D8"/>
                </a:solidFill>
              </a:rPr>
              <a:t>with [N] citations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669280" y="1700784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E1E6"/>
                </a:solidFill>
              </a:rPr>
              <a:t>CLI entry point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23560" y="1993392"/>
            <a:ext cx="5349240" cy="38404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7FB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python -m researcher ask "How does CRISPR-Cas9 work?"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23560" y="4526280"/>
            <a:ext cx="12344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0D6D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5623560" y="5239512"/>
            <a:ext cx="1234440" cy="2560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6D8"/>
                </a:solidFill>
              </a:rPr>
              <a:t>source families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360920" y="4526280"/>
            <a:ext cx="16002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8B5C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7360920" y="5239512"/>
            <a:ext cx="1600200" cy="2560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6D8"/>
                </a:solidFill>
              </a:rPr>
              <a:t>synthesized answer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372600" y="4526280"/>
            <a:ext cx="14173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DD4B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[N]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9372600" y="5239512"/>
            <a:ext cx="1417320" cy="2560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6D8"/>
                </a:solidFill>
              </a:rPr>
              <a:t>clean references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1292840" y="647395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191A8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CE1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Topic 4 — Async Research Assistant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8638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built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201400" cy="0"/>
          </a:xfrm>
          <a:prstGeom prst="line">
            <a:avLst/>
          </a:prstGeom>
          <a:noFill/>
          <a:ln w="12700">
            <a:solidFill>
              <a:srgbClr val="2443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481328"/>
            <a:ext cx="7680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7FBFF"/>
                </a:solidFill>
              </a:rPr>
              <a:t>A production-quality wrapper layer: typed, concurrent, resilient, cache-aware, and easy to run.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21488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CE1E6"/>
                </a:solidFill>
              </a:rPr>
              <a:t>Config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2148840" cy="47548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B8C6D8"/>
                </a:solidFill>
              </a:rPr>
              <a:t>Env-driven typed settings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3108960"/>
            <a:ext cx="2148840" cy="0"/>
          </a:xfrm>
          <a:prstGeom prst="line">
            <a:avLst/>
          </a:prstGeom>
          <a:noFill/>
          <a:ln w="12700">
            <a:solidFill>
              <a:srgbClr val="2443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2240280"/>
            <a:ext cx="21488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</a:rPr>
              <a:t>Concurrency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20440" y="2560320"/>
            <a:ext cx="2148840" cy="47548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B8C6D8"/>
                </a:solidFill>
              </a:rPr>
              <a:t>asyncio.gather + per-source timeout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20440" y="3108960"/>
            <a:ext cx="2148840" cy="0"/>
          </a:xfrm>
          <a:prstGeom prst="line">
            <a:avLst/>
          </a:prstGeom>
          <a:noFill/>
          <a:ln w="12700">
            <a:solidFill>
              <a:srgbClr val="2443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2240280"/>
            <a:ext cx="21488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CE1E6"/>
                </a:solidFill>
              </a:rPr>
              <a:t>Retries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63640" y="2560320"/>
            <a:ext cx="2148840" cy="47548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B8C6D8"/>
                </a:solidFill>
              </a:rPr>
              <a:t>exponential backoff around ai.* calls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3108960"/>
            <a:ext cx="2148840" cy="0"/>
          </a:xfrm>
          <a:prstGeom prst="line">
            <a:avLst/>
          </a:prstGeom>
          <a:noFill/>
          <a:ln w="12700">
            <a:solidFill>
              <a:srgbClr val="2443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06840" y="2240280"/>
            <a:ext cx="21488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</a:rPr>
              <a:t>Cache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006840" y="2560320"/>
            <a:ext cx="2148840" cy="47548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B8C6D8"/>
                </a:solidFill>
              </a:rPr>
              <a:t>TTL JSON store keyed by source + query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06840" y="3108960"/>
            <a:ext cx="2148840" cy="0"/>
          </a:xfrm>
          <a:prstGeom prst="line">
            <a:avLst/>
          </a:prstGeom>
          <a:noFill/>
          <a:ln w="12700">
            <a:solidFill>
              <a:srgbClr val="2443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383280"/>
            <a:ext cx="21488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CE1E6"/>
                </a:solidFill>
              </a:rPr>
              <a:t>Validation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3703320"/>
            <a:ext cx="2148840" cy="47548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B8C6D8"/>
                </a:solidFill>
              </a:rPr>
              <a:t>empty/oversized input rejection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" y="4251960"/>
            <a:ext cx="2148840" cy="0"/>
          </a:xfrm>
          <a:prstGeom prst="line">
            <a:avLst/>
          </a:prstGeom>
          <a:noFill/>
          <a:ln w="12700">
            <a:solidFill>
              <a:srgbClr val="2443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0440" y="3383280"/>
            <a:ext cx="21488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</a:rPr>
              <a:t>CLI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520440" y="3703320"/>
            <a:ext cx="2148840" cy="47548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B8C6D8"/>
                </a:solidFill>
              </a:rPr>
              <a:t>answer, references, source notes, JSON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520440" y="4251960"/>
            <a:ext cx="2148840" cy="0"/>
          </a:xfrm>
          <a:prstGeom prst="line">
            <a:avLst/>
          </a:prstGeom>
          <a:noFill/>
          <a:ln w="12700">
            <a:solidFill>
              <a:srgbClr val="2443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3383280"/>
            <a:ext cx="21488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CE1E6"/>
                </a:solidFill>
              </a:rPr>
              <a:t>Tests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63640" y="3703320"/>
            <a:ext cx="2148840" cy="47548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B8C6D8"/>
                </a:solidFill>
              </a:rPr>
              <a:t>offline deterministic pytest suite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63640" y="4251960"/>
            <a:ext cx="2148840" cy="0"/>
          </a:xfrm>
          <a:prstGeom prst="line">
            <a:avLst/>
          </a:prstGeom>
          <a:noFill/>
          <a:ln w="12700">
            <a:solidFill>
              <a:srgbClr val="2443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06840" y="3383280"/>
            <a:ext cx="21488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</a:rPr>
              <a:t>Docker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006840" y="3703320"/>
            <a:ext cx="2148840" cy="47548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B8C6D8"/>
                </a:solidFill>
              </a:rPr>
              <a:t>reproducible grading environment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006840" y="4251960"/>
            <a:ext cx="2148840" cy="0"/>
          </a:xfrm>
          <a:prstGeom prst="line">
            <a:avLst/>
          </a:prstGeom>
          <a:noFill/>
          <a:ln w="12700">
            <a:solidFill>
              <a:srgbClr val="2443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516636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CE1E6"/>
                </a:solidFill>
              </a:rPr>
              <a:t>Design rule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7240" y="5440680"/>
            <a:ext cx="7132320" cy="329184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7FBFF"/>
                </a:solidFill>
              </a:rPr>
              <a:t>Provided AI layer stays untouched; new behavior lives in researcher/.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1292840" y="647395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191A8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CE1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Topic 4 — Async Research Assistant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8638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Architecture: one-way dependency boundary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201400" cy="0"/>
          </a:xfrm>
          <a:prstGeom prst="line">
            <a:avLst/>
          </a:prstGeom>
          <a:noFill/>
          <a:ln w="12700">
            <a:solidFill>
              <a:srgbClr val="2443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417320"/>
            <a:ext cx="8046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B8C6D8"/>
                </a:solidFill>
              </a:rPr>
              <a:t>researcher/ wraps the public ai/ functions; ai/ never depends on researcher/.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377440" y="2441448"/>
            <a:ext cx="685800" cy="0"/>
          </a:xfrm>
          <a:prstGeom prst="line">
            <a:avLst/>
          </a:prstGeom>
          <a:noFill/>
          <a:ln w="21590">
            <a:solidFill>
              <a:srgbClr val="20D6D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572000" y="2441448"/>
            <a:ext cx="713232" cy="0"/>
          </a:xfrm>
          <a:prstGeom prst="line">
            <a:avLst/>
          </a:prstGeom>
          <a:noFill/>
          <a:ln w="21590">
            <a:solidFill>
              <a:srgbClr val="20D6D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858000" y="2441448"/>
            <a:ext cx="731520" cy="0"/>
          </a:xfrm>
          <a:prstGeom prst="line">
            <a:avLst/>
          </a:prstGeom>
          <a:noFill/>
          <a:ln w="21590">
            <a:solidFill>
              <a:srgbClr val="20D6D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080760" y="3063240"/>
            <a:ext cx="0" cy="731520"/>
          </a:xfrm>
          <a:prstGeom prst="line">
            <a:avLst/>
          </a:prstGeom>
          <a:noFill/>
          <a:ln w="2159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080760" y="4663440"/>
            <a:ext cx="0" cy="640080"/>
          </a:xfrm>
          <a:prstGeom prst="line">
            <a:avLst/>
          </a:prstGeom>
          <a:noFill/>
          <a:ln w="2159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14400" y="1874520"/>
            <a:ext cx="1463040" cy="1143000"/>
          </a:xfrm>
          <a:prstGeom prst="roundRect">
            <a:avLst>
              <a:gd name="adj" fmla="val 6400"/>
            </a:avLst>
          </a:prstGeom>
          <a:solidFill>
            <a:srgbClr val="102642"/>
          </a:solidFill>
          <a:ln w="15240">
            <a:solidFill>
              <a:srgbClr val="20D6D4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011680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BFF"/>
                </a:solidFill>
              </a:rPr>
              <a:t>CLI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51560" y="2350008"/>
            <a:ext cx="1188720" cy="5760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B8C6D8"/>
                </a:solidFill>
              </a:rPr>
              <a:t>researcher/cli.py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C6D8"/>
                </a:solidFill>
              </a:rPr>
              <a:t>ask · cache-clear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063240" y="1874520"/>
            <a:ext cx="1691640" cy="1143000"/>
          </a:xfrm>
          <a:prstGeom prst="roundRect">
            <a:avLst>
              <a:gd name="adj" fmla="val 6400"/>
            </a:avLst>
          </a:prstGeom>
          <a:solidFill>
            <a:srgbClr val="102642"/>
          </a:solidFill>
          <a:ln w="15240">
            <a:solidFill>
              <a:srgbClr val="20D6D4">
                <a:alpha val="8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2011680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BFF"/>
                </a:solidFill>
              </a:rPr>
              <a:t>Core workflow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00400" y="2350008"/>
            <a:ext cx="1417320" cy="5760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B8C6D8"/>
                </a:solidFill>
              </a:rPr>
              <a:t>validation → fetch → synthesize → render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303520" y="1874520"/>
            <a:ext cx="1691640" cy="1143000"/>
          </a:xfrm>
          <a:prstGeom prst="roundRect">
            <a:avLst>
              <a:gd name="adj" fmla="val 6400"/>
            </a:avLst>
          </a:prstGeom>
          <a:solidFill>
            <a:srgbClr val="102642"/>
          </a:solidFill>
          <a:ln w="15240">
            <a:solidFill>
              <a:srgbClr val="20D6D4">
                <a:alpha val="8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40680" y="2011680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BFF"/>
                </a:solidFill>
              </a:rPr>
              <a:t>Orchestrator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40680" y="2350008"/>
            <a:ext cx="1417320" cy="5760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B8C6D8"/>
                </a:solidFill>
              </a:rPr>
              <a:t>selected sources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C6D8"/>
                </a:solidFill>
              </a:rPr>
              <a:t>run in parallel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543800" y="1874520"/>
            <a:ext cx="1691640" cy="1143000"/>
          </a:xfrm>
          <a:prstGeom prst="roundRect">
            <a:avLst>
              <a:gd name="adj" fmla="val 6400"/>
            </a:avLst>
          </a:prstGeom>
          <a:solidFill>
            <a:srgbClr val="102642"/>
          </a:solidFill>
          <a:ln w="15240">
            <a:solidFill>
              <a:srgbClr val="2DD4BF">
                <a:alpha val="8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0" y="2011680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BFF"/>
                </a:solidFill>
              </a:rPr>
              <a:t>AI service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680960" y="2350008"/>
            <a:ext cx="1417320" cy="5760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B8C6D8"/>
                </a:solidFill>
              </a:rPr>
              <a:t>retry wrappers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C6D8"/>
                </a:solidFill>
              </a:rPr>
              <a:t>public ai.* calls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47488" y="3822192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111D31"/>
          </a:solidFill>
          <a:ln w="15240">
            <a:solidFill>
              <a:srgbClr val="8B5CF6">
                <a:alpha val="8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84648" y="3959352"/>
            <a:ext cx="17830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BFF"/>
                </a:solidFill>
              </a:rPr>
              <a:t>Cache service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184648" y="4297680"/>
            <a:ext cx="178308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B8C6D8"/>
                </a:solidFill>
              </a:rPr>
              <a:t>read/write TTL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C6D8"/>
                </a:solidFill>
              </a:rPr>
              <a:t>source payloads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47488" y="5303520"/>
            <a:ext cx="2057400" cy="685800"/>
          </a:xfrm>
          <a:prstGeom prst="roundRect">
            <a:avLst>
              <a:gd name="adj" fmla="val 10667"/>
            </a:avLst>
          </a:prstGeom>
          <a:solidFill>
            <a:srgbClr val="111D31"/>
          </a:solidFill>
          <a:ln w="15240">
            <a:solidFill>
              <a:srgbClr val="8B5CF6">
                <a:alpha val="8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84648" y="5440680"/>
            <a:ext cx="17830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BFF"/>
                </a:solidFill>
              </a:rPr>
              <a:t>File cache store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184648" y="5779008"/>
            <a:ext cx="1783080" cy="1188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B8C6D8"/>
                </a:solidFill>
              </a:rPr>
              <a:t>JSON files by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C6D8"/>
                </a:solidFill>
              </a:rPr>
              <a:t>SHA-256 key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315200" y="1691640"/>
            <a:ext cx="0" cy="4389120"/>
          </a:xfrm>
          <a:prstGeom prst="line">
            <a:avLst/>
          </a:prstGeom>
          <a:noFill/>
          <a:ln w="12700">
            <a:solidFill>
              <a:srgbClr val="2DD4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52360" y="5349240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D4BF"/>
                </a:solidFill>
              </a:rPr>
              <a:t>Provided boundary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555480" y="1847088"/>
            <a:ext cx="1783080" cy="11887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7FB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ai.fetch_wikipedia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7FB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ai.fetch_arxiv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7FB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ai.fetch_web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7FB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ai.synthesize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292840" y="647395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191A8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CE1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Topic 4 — Async Research Assistant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8638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Async research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201400" cy="0"/>
          </a:xfrm>
          <a:prstGeom prst="line">
            <a:avLst/>
          </a:prstGeom>
          <a:noFill/>
          <a:ln w="12700">
            <a:solidFill>
              <a:srgbClr val="2443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417320"/>
            <a:ext cx="47548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FBFF"/>
                </a:solidFill>
              </a:rPr>
              <a:t>Each source is isolated: slow or failed source ≠ failed request.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011680" y="2514600"/>
            <a:ext cx="685800" cy="0"/>
          </a:xfrm>
          <a:prstGeom prst="line">
            <a:avLst/>
          </a:prstGeom>
          <a:noFill/>
          <a:ln w="25400">
            <a:solidFill>
              <a:srgbClr val="20D6D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886200" y="2514600"/>
            <a:ext cx="685800" cy="0"/>
          </a:xfrm>
          <a:prstGeom prst="line">
            <a:avLst/>
          </a:prstGeom>
          <a:noFill/>
          <a:ln w="25400">
            <a:solidFill>
              <a:srgbClr val="20D6D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172200" y="2514600"/>
            <a:ext cx="685800" cy="0"/>
          </a:xfrm>
          <a:prstGeom prst="line">
            <a:avLst/>
          </a:prstGeom>
          <a:noFill/>
          <a:ln w="25400">
            <a:solidFill>
              <a:srgbClr val="20D6D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77240" y="205740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102642"/>
          </a:solidFill>
          <a:ln w="15240">
            <a:solidFill>
              <a:srgbClr val="20D6D4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194560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BFF"/>
                </a:solidFill>
              </a:rPr>
              <a:t>Validate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2532888"/>
            <a:ext cx="100584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B8C6D8"/>
                </a:solidFill>
              </a:rPr>
              <a:t>question length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C6D8"/>
                </a:solidFill>
              </a:rPr>
              <a:t>source list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651760" y="205740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102642"/>
          </a:solidFill>
          <a:ln w="15240">
            <a:solidFill>
              <a:srgbClr val="20D6D4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88920" y="2194560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BFF"/>
                </a:solidFill>
              </a:rPr>
              <a:t>Gather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788920" y="2532888"/>
            <a:ext cx="109728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B8C6D8"/>
                </a:solidFill>
              </a:rPr>
              <a:t>wiki · arXiv · web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C6D8"/>
                </a:solidFill>
              </a:rPr>
              <a:t>asyncio tasks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26280" y="205740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102642"/>
          </a:solidFill>
          <a:ln w="15240">
            <a:solidFill>
              <a:srgbClr val="8B5CF6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2194560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BFF"/>
                </a:solidFill>
              </a:rPr>
              <a:t>Timeout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63440" y="2532888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B8C6D8"/>
                </a:solidFill>
              </a:rPr>
              <a:t>per-source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C6D8"/>
                </a:solidFill>
              </a:rPr>
              <a:t>isolation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58000" y="205740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102642"/>
          </a:solidFill>
          <a:ln w="15240">
            <a:solidFill>
              <a:srgbClr val="2DD4BF">
                <a:alpha val="8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95160" y="2194560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BFF"/>
                </a:solidFill>
              </a:rPr>
              <a:t>Synthesize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995160" y="2532888"/>
            <a:ext cx="141732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B8C6D8"/>
                </a:solidFill>
              </a:rPr>
              <a:t>answer with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C6D8"/>
                </a:solidFill>
              </a:rPr>
              <a:t>used citations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04672" y="3886200"/>
            <a:ext cx="5029200" cy="16276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400" dirty="0">
                <a:solidFill>
                  <a:srgbClr val="B8C6D8"/>
                </a:solidFill>
              </a:rPr>
              <a:t>Parallel tasks are created only for selected sources</a:t>
            </a:r>
            <a:endParaRPr lang="en-US" sz="1400" dirty="0"/>
          </a:p>
          <a:p>
            <a:r>
              <a:rPr lang="en-US" sz="1400" dirty="0">
                <a:solidFill>
                  <a:srgbClr val="B8C6D8"/>
                </a:solidFill>
              </a:rPr>
              <a:t>Every fetch call goes through retry_async</a:t>
            </a:r>
            <a:endParaRPr lang="en-US" sz="1400" dirty="0"/>
          </a:p>
          <a:p>
            <a:r>
              <a:rPr lang="en-US" sz="1400" dirty="0">
                <a:solidFill>
                  <a:srgbClr val="B8C6D8"/>
                </a:solidFill>
              </a:rPr>
              <a:t>Successful sources are merged even if one origin fails</a:t>
            </a:r>
            <a:endParaRPr lang="en-US" sz="1400" dirty="0"/>
          </a:p>
          <a:p>
            <a:r>
              <a:rPr lang="en-US" sz="1400" dirty="0">
                <a:solidFill>
                  <a:srgbClr val="B8C6D8"/>
                </a:solidFill>
              </a:rPr>
              <a:t>CLI prints source notes for degraded results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292840" y="647395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191A8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CE1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Topic 4 — Async Research Assistant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8638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Concurrency performance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201400" cy="0"/>
          </a:xfrm>
          <a:prstGeom prst="line">
            <a:avLst/>
          </a:prstGeom>
          <a:noFill/>
          <a:ln w="12700">
            <a:solidFill>
              <a:srgbClr val="2443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417320"/>
            <a:ext cx="6766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C6D8"/>
                </a:solidFill>
              </a:rPr>
              <a:t>Offline benchmark with three deterministic 200 ms fake sources.</a:t>
            </a:r>
            <a:endParaRPr lang="en-US" sz="16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777240" y="2057400"/>
          <a:ext cx="5715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543800" y="2057400"/>
            <a:ext cx="29260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0D6D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2.61×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7543800" y="2770632"/>
            <a:ext cx="2926080" cy="2560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6D8"/>
                </a:solidFill>
              </a:rPr>
              <a:t>speedup over sequential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543800" y="365760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BFF"/>
                </a:solidFill>
              </a:rPr>
              <a:t>Why not exactly 3×?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543800" y="4069080"/>
            <a:ext cx="2926080" cy="12984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300" dirty="0">
                <a:solidFill>
                  <a:srgbClr val="B8C6D8"/>
                </a:solidFill>
              </a:rPr>
              <a:t>coroutine scheduling</a:t>
            </a:r>
            <a:endParaRPr lang="en-US" sz="1300" dirty="0"/>
          </a:p>
          <a:p>
            <a:r>
              <a:rPr lang="en-US" sz="1300" dirty="0">
                <a:solidFill>
                  <a:srgbClr val="B8C6D8"/>
                </a:solidFill>
              </a:rPr>
              <a:t>object creation</a:t>
            </a:r>
            <a:endParaRPr lang="en-US" sz="1300" dirty="0"/>
          </a:p>
          <a:p>
            <a:r>
              <a:rPr lang="en-US" sz="1300" dirty="0">
                <a:solidFill>
                  <a:srgbClr val="B8C6D8"/>
                </a:solidFill>
              </a:rPr>
              <a:t>merge + synthesis overhead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" y="5897880"/>
            <a:ext cx="8046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FBFF"/>
                </a:solidFill>
              </a:rPr>
              <a:t>Takeaway: wall-clock time approaches the slowest source, not the sum of all source delays.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292840" y="647395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191A8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CE1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Topic 4 — Async Research Assistant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8638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Robustness: fail soft, not fail closed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201400" cy="0"/>
          </a:xfrm>
          <a:prstGeom prst="line">
            <a:avLst/>
          </a:prstGeom>
          <a:noFill/>
          <a:ln w="12700">
            <a:solidFill>
              <a:srgbClr val="2443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417320"/>
            <a:ext cx="8595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B8C6D8"/>
                </a:solidFill>
              </a:rPr>
              <a:t>A failed source returns an error result and empty source list; the request continues if at least one source succeeds.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2514600" y="2743200"/>
            <a:ext cx="685800" cy="0"/>
          </a:xfrm>
          <a:prstGeom prst="line">
            <a:avLst/>
          </a:prstGeom>
          <a:noFill/>
          <a:ln w="20320">
            <a:solidFill>
              <a:srgbClr val="20D6D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800600" y="2743200"/>
            <a:ext cx="731520" cy="0"/>
          </a:xfrm>
          <a:prstGeom prst="line">
            <a:avLst/>
          </a:prstGeom>
          <a:noFill/>
          <a:ln w="20320">
            <a:solidFill>
              <a:srgbClr val="20D6D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086600" y="2743200"/>
            <a:ext cx="731520" cy="0"/>
          </a:xfrm>
          <a:prstGeom prst="line">
            <a:avLst/>
          </a:prstGeom>
          <a:noFill/>
          <a:ln w="20320">
            <a:solidFill>
              <a:srgbClr val="20D6D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097280" y="233172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102642"/>
          </a:solidFill>
          <a:ln w="15240">
            <a:solidFill>
              <a:srgbClr val="2DD4BF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2468880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BFF"/>
                </a:solidFill>
              </a:rPr>
              <a:t>Wiki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807208"/>
            <a:ext cx="109728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B8C6D8"/>
                </a:solidFill>
              </a:rPr>
              <a:t>ok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46120" y="233172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2A1834"/>
          </a:solidFill>
          <a:ln w="15240">
            <a:solidFill>
              <a:srgbClr val="8B5CF6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2468880"/>
            <a:ext cx="12801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BFF"/>
                </a:solidFill>
              </a:rPr>
              <a:t>arXiv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83280" y="2807208"/>
            <a:ext cx="128016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B8C6D8"/>
                </a:solidFill>
              </a:rPr>
              <a:t>timeout / error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532120" y="233172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102642"/>
          </a:solidFill>
          <a:ln w="15240">
            <a:solidFill>
              <a:srgbClr val="2DD4BF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2468880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BFF"/>
                </a:solidFill>
              </a:rPr>
              <a:t>Web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669280" y="2807208"/>
            <a:ext cx="109728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B8C6D8"/>
                </a:solidFill>
              </a:rPr>
              <a:t>ok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818120" y="233172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102642"/>
          </a:solidFill>
          <a:ln w="15240">
            <a:solidFill>
              <a:srgbClr val="20D6D4">
                <a:alpha val="8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0" y="2468880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BFF"/>
                </a:solidFill>
              </a:rPr>
              <a:t>Answer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955280" y="2807208"/>
            <a:ext cx="14173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B8C6D8"/>
                </a:solidFill>
              </a:rPr>
              <a:t>uses successful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C6D8"/>
                </a:solidFill>
              </a:rPr>
              <a:t>evidence only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97280" y="388620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CE1E6"/>
                </a:solidFill>
              </a:rPr>
              <a:t>Source notes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97280" y="4297680"/>
            <a:ext cx="5212080" cy="4572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7FBFF"/>
                </a:solidFill>
              </a:rPr>
              <a:t>arXiv failed after timeout; answer generated from Wikipedia + web evidence.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97280" y="5074920"/>
            <a:ext cx="8046720" cy="0"/>
          </a:xfrm>
          <a:prstGeom prst="line">
            <a:avLst/>
          </a:prstGeom>
          <a:noFill/>
          <a:ln w="12700">
            <a:solidFill>
              <a:srgbClr val="2443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3886200"/>
            <a:ext cx="1371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8B5C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903720" y="4599432"/>
            <a:ext cx="1371600" cy="2560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6D8"/>
                </a:solidFill>
              </a:rPr>
              <a:t>retry attempts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686800" y="3886200"/>
            <a:ext cx="1371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0D6D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10s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8686800" y="4599432"/>
            <a:ext cx="1371600" cy="2560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6D8"/>
                </a:solidFill>
              </a:rPr>
              <a:t>source timeout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292840" y="647395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191A8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CE1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Topic 4 — Async Research Assistant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8638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Caching, validation, and clean output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201400" cy="0"/>
          </a:xfrm>
          <a:prstGeom prst="line">
            <a:avLst/>
          </a:prstGeom>
          <a:noFill/>
          <a:ln w="12700">
            <a:solidFill>
              <a:srgbClr val="2443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417320"/>
            <a:ext cx="8412480" cy="4114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7FBFF"/>
                </a:solidFill>
              </a:rPr>
              <a:t>The system caches retrieved sources, not final answers, so synthesis remains fresh while expensive retrieval is reused.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68680" y="226771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E1E6"/>
                </a:solidFill>
              </a:rPr>
              <a:t>Cache key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4663440" cy="36576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7FB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(source, canonicalized query) → SHA-256 filename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438144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E1E6"/>
                </a:solidFill>
              </a:rPr>
              <a:t>Policy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794760"/>
            <a:ext cx="4572000" cy="16276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350" dirty="0">
                <a:solidFill>
                  <a:srgbClr val="B8C6D8"/>
                </a:solidFill>
              </a:rPr>
              <a:t>TTL defaults to 86,400 seconds</a:t>
            </a:r>
            <a:endParaRPr lang="en-US" sz="1350" dirty="0"/>
          </a:p>
          <a:p>
            <a:r>
              <a:rPr lang="en-US" sz="1350" dirty="0">
                <a:solidFill>
                  <a:srgbClr val="B8C6D8"/>
                </a:solidFill>
              </a:rPr>
              <a:t>--no-cache bypasses reads and writes</a:t>
            </a:r>
            <a:endParaRPr lang="en-US" sz="1350" dirty="0"/>
          </a:p>
          <a:p>
            <a:r>
              <a:rPr lang="en-US" sz="1350" dirty="0">
                <a:solidFill>
                  <a:srgbClr val="B8C6D8"/>
                </a:solidFill>
              </a:rPr>
              <a:t>Expired files are deleted lazily</a:t>
            </a:r>
            <a:endParaRPr lang="en-US" sz="1350" dirty="0"/>
          </a:p>
          <a:p>
            <a:r>
              <a:rPr lang="en-US" sz="1350" dirty="0">
                <a:solidFill>
                  <a:srgbClr val="B8C6D8"/>
                </a:solidFill>
              </a:rPr>
              <a:t>Corrupt cache files do not crash the request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46520" y="2194560"/>
            <a:ext cx="4297680" cy="2011680"/>
          </a:xfrm>
          <a:prstGeom prst="rect">
            <a:avLst/>
          </a:prstGeom>
          <a:solidFill>
            <a:srgbClr val="102642"/>
          </a:solidFill>
          <a:ln w="12700">
            <a:solidFill>
              <a:srgbClr val="24435F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7FB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7FB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"origin": "wikipedia",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7FB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"canonical_query": "what is ai?",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7FB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"expires_at": 1710086400.0,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7FB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"sources": [ ... 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7FB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46520" y="4709160"/>
            <a:ext cx="20116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8B5C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446520" y="5422392"/>
            <a:ext cx="2011680" cy="2560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6D8"/>
                </a:solidFill>
              </a:rPr>
              <a:t>naked dictionaries across main contracts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823960" y="4709160"/>
            <a:ext cx="18288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0D6D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Pydantic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823960" y="5422392"/>
            <a:ext cx="1828800" cy="2560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6D8"/>
                </a:solidFill>
              </a:rPr>
              <a:t>typed result models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1292840" y="647395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191A8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CE1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Topic 4 — Async Research Assistant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8638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Testing &amp; reproducibility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201400" cy="0"/>
          </a:xfrm>
          <a:prstGeom prst="line">
            <a:avLst/>
          </a:prstGeom>
          <a:noFill/>
          <a:ln w="12700">
            <a:solidFill>
              <a:srgbClr val="2443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417320"/>
            <a:ext cx="8046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B8C6D8"/>
                </a:solidFill>
              </a:rPr>
              <a:t>Offline deterministic tests make the project gradeable without API keys or live providers.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21945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0D6D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68680" y="2953512"/>
            <a:ext cx="2194560" cy="2560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6D8"/>
                </a:solidFill>
              </a:rPr>
              <a:t>pytest cases passed in final report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0" y="2240280"/>
            <a:ext cx="21945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DD4B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80%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0" y="2953512"/>
            <a:ext cx="2194560" cy="2560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6D8"/>
                </a:solidFill>
              </a:rPr>
              <a:t>researcher package coverage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46520" y="2240280"/>
            <a:ext cx="21945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8B5C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446520" y="2953512"/>
            <a:ext cx="2194560" cy="2560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6D8"/>
                </a:solidFill>
              </a:rPr>
              <a:t>live credentials required for tests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68680" y="3977640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BFF"/>
                </a:solidFill>
              </a:rPr>
              <a:t>Key behaviors covered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4370832"/>
            <a:ext cx="4023360" cy="195681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350" dirty="0">
                <a:solidFill>
                  <a:srgbClr val="B8C6D8"/>
                </a:solidFill>
              </a:rPr>
              <a:t>source selection parsing</a:t>
            </a:r>
            <a:endParaRPr lang="en-US" sz="1350" dirty="0"/>
          </a:p>
          <a:p>
            <a:r>
              <a:rPr lang="en-US" sz="1350" dirty="0">
                <a:solidFill>
                  <a:srgbClr val="B8C6D8"/>
                </a:solidFill>
              </a:rPr>
              <a:t>cache hit/miss/corruption</a:t>
            </a:r>
            <a:endParaRPr lang="en-US" sz="1350" dirty="0"/>
          </a:p>
          <a:p>
            <a:r>
              <a:rPr lang="en-US" sz="1350" dirty="0">
                <a:solidFill>
                  <a:srgbClr val="B8C6D8"/>
                </a:solidFill>
              </a:rPr>
              <a:t>retry + timeout behavior</a:t>
            </a:r>
            <a:endParaRPr lang="en-US" sz="1350" dirty="0"/>
          </a:p>
          <a:p>
            <a:r>
              <a:rPr lang="en-US" sz="1350" dirty="0">
                <a:solidFill>
                  <a:srgbClr val="B8C6D8"/>
                </a:solidFill>
              </a:rPr>
              <a:t>CLI rendering and JSON output</a:t>
            </a:r>
            <a:endParaRPr lang="en-US" sz="1350" dirty="0"/>
          </a:p>
          <a:p>
            <a:r>
              <a:rPr lang="en-US" sz="1350" dirty="0">
                <a:solidFill>
                  <a:srgbClr val="B8C6D8"/>
                </a:solidFill>
              </a:rPr>
              <a:t>provided AI smoke tests preserved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46520" y="397764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BFF"/>
                </a:solidFill>
              </a:rPr>
              <a:t>Reproducibility package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4370832"/>
            <a:ext cx="3749040" cy="195681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350" dirty="0">
                <a:solidFill>
                  <a:srgbClr val="B8C6D8"/>
                </a:solidFill>
              </a:rPr>
              <a:t>requirements.txt</a:t>
            </a:r>
            <a:endParaRPr lang="en-US" sz="1350" dirty="0"/>
          </a:p>
          <a:p>
            <a:r>
              <a:rPr lang="en-US" sz="1350" dirty="0">
                <a:solidFill>
                  <a:srgbClr val="B8C6D8"/>
                </a:solidFill>
              </a:rPr>
              <a:t>.env.example</a:t>
            </a:r>
            <a:endParaRPr lang="en-US" sz="1350" dirty="0"/>
          </a:p>
          <a:p>
            <a:r>
              <a:rPr lang="en-US" sz="1350" dirty="0">
                <a:solidFill>
                  <a:srgbClr val="B8C6D8"/>
                </a:solidFill>
              </a:rPr>
              <a:t>Dockerfile</a:t>
            </a:r>
            <a:endParaRPr lang="en-US" sz="1350" dirty="0"/>
          </a:p>
          <a:p>
            <a:r>
              <a:rPr lang="en-US" sz="1350" dirty="0">
                <a:solidFill>
                  <a:srgbClr val="B8C6D8"/>
                </a:solidFill>
              </a:rPr>
              <a:t>README run/test instructions</a:t>
            </a:r>
            <a:endParaRPr lang="en-US" sz="1350" dirty="0"/>
          </a:p>
          <a:p>
            <a:r>
              <a:rPr lang="en-US" sz="1350" dirty="0">
                <a:solidFill>
                  <a:srgbClr val="B8C6D8"/>
                </a:solidFill>
              </a:rPr>
              <a:t>offline demo mode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292840" y="647395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191A8"/>
                </a:solidFill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CE1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Topic 4 — Async Research Assistant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8638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path &amp; final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201400" cy="0"/>
          </a:xfrm>
          <a:prstGeom prst="line">
            <a:avLst/>
          </a:prstGeom>
          <a:noFill/>
          <a:ln w="12700">
            <a:solidFill>
              <a:srgbClr val="2443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481328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CE1E6"/>
                </a:solidFill>
              </a:rPr>
              <a:t>Commands to show during defense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1874520"/>
            <a:ext cx="5760720" cy="1325880"/>
          </a:xfrm>
          <a:prstGeom prst="rect">
            <a:avLst/>
          </a:prstGeom>
          <a:solidFill>
            <a:srgbClr val="102642"/>
          </a:solidFill>
          <a:ln w="12700">
            <a:solidFill>
              <a:srgbClr val="24435F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7FB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python -m researcher ask "What is photosynthesis?" --offline --no-cache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7FB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python -m researcher ask "How does CRISPR-Cas9 work?" --sources wiki,arxiv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7FB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python scripts/benchmark.py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7FB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pytest -q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" y="379476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CE1E6"/>
                </a:solidFill>
              </a:rPr>
              <a:t>Defense summary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4160520"/>
            <a:ext cx="5394960" cy="195681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350" dirty="0">
                <a:solidFill>
                  <a:srgbClr val="B8C6D8"/>
                </a:solidFill>
              </a:rPr>
              <a:t>separated student layer from provided AI contract</a:t>
            </a:r>
            <a:endParaRPr lang="en-US" sz="1350" dirty="0"/>
          </a:p>
          <a:p>
            <a:r>
              <a:rPr lang="en-US" sz="1350" dirty="0">
                <a:solidFill>
                  <a:srgbClr val="B8C6D8"/>
                </a:solidFill>
              </a:rPr>
              <a:t>parallelized source retrieval</a:t>
            </a:r>
            <a:endParaRPr lang="en-US" sz="1350" dirty="0"/>
          </a:p>
          <a:p>
            <a:r>
              <a:rPr lang="en-US" sz="1350" dirty="0">
                <a:solidFill>
                  <a:srgbClr val="B8C6D8"/>
                </a:solidFill>
              </a:rPr>
              <a:t>degraded gracefully under failure</a:t>
            </a:r>
            <a:endParaRPr lang="en-US" sz="1350" dirty="0"/>
          </a:p>
          <a:p>
            <a:r>
              <a:rPr lang="en-US" sz="1350" dirty="0">
                <a:solidFill>
                  <a:srgbClr val="B8C6D8"/>
                </a:solidFill>
              </a:rPr>
              <a:t>validated inputs and sanitized outputs</a:t>
            </a:r>
            <a:endParaRPr lang="en-US" sz="1350" dirty="0"/>
          </a:p>
          <a:p>
            <a:r>
              <a:rPr lang="en-US" sz="1350" dirty="0">
                <a:solidFill>
                  <a:srgbClr val="B8C6D8"/>
                </a:solidFill>
              </a:rPr>
              <a:t>delivered cache, tests, Docker, docs, and commented code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0" y="148132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CE1E6"/>
                </a:solidFill>
              </a:rPr>
              <a:t>Future work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0" y="1874520"/>
            <a:ext cx="3474720" cy="195681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350" dirty="0">
                <a:solidFill>
                  <a:srgbClr val="B8C6D8"/>
                </a:solidFill>
              </a:rPr>
              <a:t>provider-aware rate limiting</a:t>
            </a:r>
            <a:endParaRPr lang="en-US" sz="1350" dirty="0"/>
          </a:p>
          <a:p>
            <a:r>
              <a:rPr lang="en-US" sz="1350" dirty="0">
                <a:solidFill>
                  <a:srgbClr val="B8C6D8"/>
                </a:solidFill>
              </a:rPr>
              <a:t>optional HTTP API</a:t>
            </a:r>
            <a:endParaRPr lang="en-US" sz="1350" dirty="0"/>
          </a:p>
          <a:p>
            <a:r>
              <a:rPr lang="en-US" sz="1350" dirty="0">
                <a:solidFill>
                  <a:srgbClr val="B8C6D8"/>
                </a:solidFill>
              </a:rPr>
              <a:t>recorded integration fixtures</a:t>
            </a:r>
            <a:endParaRPr lang="en-US" sz="1350" dirty="0"/>
          </a:p>
          <a:p>
            <a:r>
              <a:rPr lang="en-US" sz="1350" dirty="0">
                <a:solidFill>
                  <a:srgbClr val="B8C6D8"/>
                </a:solidFill>
              </a:rPr>
              <a:t>cache versioning</a:t>
            </a:r>
            <a:endParaRPr lang="en-US" sz="1350" dirty="0"/>
          </a:p>
          <a:p>
            <a:r>
              <a:rPr lang="en-US" sz="1350" dirty="0">
                <a:solidFill>
                  <a:srgbClr val="B8C6D8"/>
                </a:solidFill>
              </a:rPr>
              <a:t>structured logs and latency metrics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292840" y="647395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191A8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4687</Words>
  <Application>WPS Presentation</Application>
  <PresentationFormat>On-screen Show (16:9)</PresentationFormat>
  <Paragraphs>333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8" baseType="lpstr">
      <vt:lpstr>Arial</vt:lpstr>
      <vt:lpstr>SimSun</vt:lpstr>
      <vt:lpstr>Wingdings</vt:lpstr>
      <vt:lpstr>Aptos Display</vt:lpstr>
      <vt:lpstr>Segoe UI</vt:lpstr>
      <vt:lpstr>Aptos Display</vt:lpstr>
      <vt:lpstr>Aptos Display</vt:lpstr>
      <vt:lpstr>Aptos</vt:lpstr>
      <vt:lpstr>Aptos</vt:lpstr>
      <vt:lpstr>Aptos</vt:lpstr>
      <vt:lpstr>Courier New</vt:lpstr>
      <vt:lpstr>Courier New</vt:lpstr>
      <vt:lpstr>Courier New</vt:lpstr>
      <vt:lpstr>Arial</vt:lpstr>
      <vt:lpstr>Aptos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AI Academy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4 — Async Research Assistant</dc:title>
  <dc:creator>OpenAI</dc:creator>
  <dc:subject>Async Research Assistant final project defense</dc:subject>
  <cp:lastModifiedBy>HP-Pavilion</cp:lastModifiedBy>
  <cp:revision>2</cp:revision>
  <dcterms:created xsi:type="dcterms:W3CDTF">2026-05-22T20:00:00Z</dcterms:created>
  <dcterms:modified xsi:type="dcterms:W3CDTF">2026-05-23T15:15:21Z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FA4B5E16CD0340BC868371574F335556_12</vt:lpwstr>
  </property>
  <property fmtid="{D5CDD505-2E9C-101B-9397-08002B2CF9AE}" pid="3" name="KSOProductBuildVer">
    <vt:lpwstr>1033-12.1.0.26372</vt:lpwstr>
  </property>
</Properties>
</file>